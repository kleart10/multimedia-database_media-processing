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RQND Pro UltraWide" charset="1" panose="00000500000000000000"/>
      <p:regular r:id="rId22"/>
    </p:embeddedFont>
    <p:embeddedFont>
      <p:font typeface="Open Sauce" charset="1" panose="00000500000000000000"/>
      <p:regular r:id="rId23"/>
    </p:embeddedFont>
    <p:embeddedFont>
      <p:font typeface="Open Sauce Bold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74871" y="5935437"/>
            <a:ext cx="12538258" cy="642740"/>
            <a:chOff x="0" y="0"/>
            <a:chExt cx="3127802" cy="1603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27802" cy="160338"/>
            </a:xfrm>
            <a:custGeom>
              <a:avLst/>
              <a:gdLst/>
              <a:ahLst/>
              <a:cxnLst/>
              <a:rect r="r" b="b" t="t" l="l"/>
              <a:pathLst>
                <a:path h="160338" w="3127802">
                  <a:moveTo>
                    <a:pt x="0" y="0"/>
                  </a:moveTo>
                  <a:lnTo>
                    <a:pt x="3127802" y="0"/>
                  </a:lnTo>
                  <a:lnTo>
                    <a:pt x="3127802" y="160338"/>
                  </a:lnTo>
                  <a:lnTo>
                    <a:pt x="0" y="160338"/>
                  </a:lnTo>
                  <a:close/>
                </a:path>
              </a:pathLst>
            </a:custGeom>
            <a:ln w="9525" cap="sq">
              <a:solidFill>
                <a:srgbClr val="FFFFFF">
                  <a:alpha val="80000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127802" cy="188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1755" y="7162255"/>
            <a:ext cx="18631511" cy="4192090"/>
          </a:xfrm>
          <a:custGeom>
            <a:avLst/>
            <a:gdLst/>
            <a:ahLst/>
            <a:cxnLst/>
            <a:rect r="r" b="b" t="t" l="l"/>
            <a:pathLst>
              <a:path h="4192090" w="18631511">
                <a:moveTo>
                  <a:pt x="0" y="0"/>
                </a:moveTo>
                <a:lnTo>
                  <a:pt x="18631510" y="0"/>
                </a:lnTo>
                <a:lnTo>
                  <a:pt x="18631510" y="4192090"/>
                </a:lnTo>
                <a:lnTo>
                  <a:pt x="0" y="41920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61028" y="8892355"/>
            <a:ext cx="365945" cy="365945"/>
          </a:xfrm>
          <a:custGeom>
            <a:avLst/>
            <a:gdLst/>
            <a:ahLst/>
            <a:cxnLst/>
            <a:rect r="r" b="b" t="t" l="l"/>
            <a:pathLst>
              <a:path h="365945" w="365945">
                <a:moveTo>
                  <a:pt x="0" y="0"/>
                </a:moveTo>
                <a:lnTo>
                  <a:pt x="365944" y="0"/>
                </a:lnTo>
                <a:lnTo>
                  <a:pt x="365944" y="365945"/>
                </a:lnTo>
                <a:lnTo>
                  <a:pt x="0" y="365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4977264"/>
            <a:ext cx="332473" cy="332473"/>
          </a:xfrm>
          <a:custGeom>
            <a:avLst/>
            <a:gdLst/>
            <a:ahLst/>
            <a:cxnLst/>
            <a:rect r="r" b="b" t="t" l="l"/>
            <a:pathLst>
              <a:path h="332473" w="332473">
                <a:moveTo>
                  <a:pt x="0" y="0"/>
                </a:moveTo>
                <a:lnTo>
                  <a:pt x="332473" y="0"/>
                </a:lnTo>
                <a:lnTo>
                  <a:pt x="332473" y="332472"/>
                </a:lnTo>
                <a:lnTo>
                  <a:pt x="0" y="3324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6926827" y="4977264"/>
            <a:ext cx="332473" cy="332473"/>
          </a:xfrm>
          <a:custGeom>
            <a:avLst/>
            <a:gdLst/>
            <a:ahLst/>
            <a:cxnLst/>
            <a:rect r="r" b="b" t="t" l="l"/>
            <a:pathLst>
              <a:path h="332473" w="332473">
                <a:moveTo>
                  <a:pt x="332473" y="0"/>
                </a:moveTo>
                <a:lnTo>
                  <a:pt x="0" y="0"/>
                </a:lnTo>
                <a:lnTo>
                  <a:pt x="0" y="332472"/>
                </a:lnTo>
                <a:lnTo>
                  <a:pt x="332473" y="332472"/>
                </a:lnTo>
                <a:lnTo>
                  <a:pt x="33247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10800000">
            <a:off x="1028700" y="10287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215069" y="0"/>
                </a:moveTo>
                <a:lnTo>
                  <a:pt x="0" y="0"/>
                </a:lnTo>
                <a:lnTo>
                  <a:pt x="0" y="166972"/>
                </a:lnTo>
                <a:lnTo>
                  <a:pt x="215069" y="166972"/>
                </a:lnTo>
                <a:lnTo>
                  <a:pt x="215069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94760" y="3446381"/>
            <a:ext cx="14098481" cy="228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8"/>
              </a:lnSpc>
            </a:pPr>
            <a:r>
              <a:rPr lang="en-US" sz="12669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MULTIMEDIA</a:t>
            </a:r>
          </a:p>
          <a:p>
            <a:pPr algn="ctr">
              <a:lnSpc>
                <a:spcPts val="8108"/>
              </a:lnSpc>
            </a:pPr>
            <a:r>
              <a:rPr lang="en-US" sz="12669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DATABASE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52339" y="6116412"/>
            <a:ext cx="12783322" cy="34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2"/>
              </a:lnSpc>
            </a:pPr>
            <a:r>
              <a:rPr lang="en-US" sz="3378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KLEART ADRI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269865" cy="233065"/>
          </a:xfrm>
          <a:custGeom>
            <a:avLst/>
            <a:gdLst/>
            <a:ahLst/>
            <a:cxnLst/>
            <a:rect r="r" b="b" t="t" l="l"/>
            <a:pathLst>
              <a:path h="233065" w="269865">
                <a:moveTo>
                  <a:pt x="0" y="0"/>
                </a:moveTo>
                <a:lnTo>
                  <a:pt x="269865" y="0"/>
                </a:lnTo>
                <a:lnTo>
                  <a:pt x="269865" y="233065"/>
                </a:lnTo>
                <a:lnTo>
                  <a:pt x="0" y="2330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7044231" y="10287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69" y="0"/>
                </a:lnTo>
                <a:lnTo>
                  <a:pt x="215069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20716" y="4268963"/>
            <a:ext cx="7669632" cy="3927400"/>
          </a:xfrm>
          <a:custGeom>
            <a:avLst/>
            <a:gdLst/>
            <a:ahLst/>
            <a:cxnLst/>
            <a:rect r="r" b="b" t="t" l="l"/>
            <a:pathLst>
              <a:path h="3927400" w="7669632">
                <a:moveTo>
                  <a:pt x="0" y="0"/>
                </a:moveTo>
                <a:lnTo>
                  <a:pt x="7669632" y="0"/>
                </a:lnTo>
                <a:lnTo>
                  <a:pt x="7669632" y="3927400"/>
                </a:lnTo>
                <a:lnTo>
                  <a:pt x="0" y="392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353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94645" y="858130"/>
            <a:ext cx="13014919" cy="282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0"/>
              </a:lnSpc>
            </a:pPr>
            <a:r>
              <a:rPr lang="en-US" sz="9972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INTRODUCTION TO MULTIMEDIA DB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8565" y="3837866"/>
            <a:ext cx="8622152" cy="542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8"/>
              </a:lnSpc>
            </a:pPr>
            <a:r>
              <a:rPr lang="en-US" sz="552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Multimedia data enables information to be represented through text, audio, graphics, image, animation, and video…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269865" cy="233065"/>
          </a:xfrm>
          <a:custGeom>
            <a:avLst/>
            <a:gdLst/>
            <a:ahLst/>
            <a:cxnLst/>
            <a:rect r="r" b="b" t="t" l="l"/>
            <a:pathLst>
              <a:path h="233065" w="269865">
                <a:moveTo>
                  <a:pt x="0" y="0"/>
                </a:moveTo>
                <a:lnTo>
                  <a:pt x="269865" y="0"/>
                </a:lnTo>
                <a:lnTo>
                  <a:pt x="269865" y="233065"/>
                </a:lnTo>
                <a:lnTo>
                  <a:pt x="0" y="2330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7044231" y="10287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69" y="0"/>
                </a:lnTo>
                <a:lnTo>
                  <a:pt x="215069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94645" y="858130"/>
            <a:ext cx="13014919" cy="105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0"/>
              </a:lnSpc>
            </a:pPr>
            <a:r>
              <a:rPr lang="en-US" sz="9972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TYPES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0900" y="2152352"/>
            <a:ext cx="15146199" cy="594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Text and documents 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Include: words, sentences, paragraphs, …, structure, link, etc. (e.g., xml/html tags, hyperlink) 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Now also include (micro)blogs, SMS 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Image and graphics 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Digital equivalents of drawings, paintings, photographs (including medical imaging), or prints 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Audio and video 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Considers temporal characteristics 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Speech 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Audio in natural language 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Speech-to-text and text-to-speech tools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52587" y="1028700"/>
            <a:ext cx="269865" cy="233065"/>
          </a:xfrm>
          <a:custGeom>
            <a:avLst/>
            <a:gdLst/>
            <a:ahLst/>
            <a:cxnLst/>
            <a:rect r="r" b="b" t="t" l="l"/>
            <a:pathLst>
              <a:path h="233065" w="269865">
                <a:moveTo>
                  <a:pt x="0" y="0"/>
                </a:moveTo>
                <a:lnTo>
                  <a:pt x="269865" y="0"/>
                </a:lnTo>
                <a:lnTo>
                  <a:pt x="269865" y="233065"/>
                </a:lnTo>
                <a:lnTo>
                  <a:pt x="0" y="2330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8892355"/>
            <a:ext cx="365945" cy="365945"/>
          </a:xfrm>
          <a:custGeom>
            <a:avLst/>
            <a:gdLst/>
            <a:ahLst/>
            <a:cxnLst/>
            <a:rect r="r" b="b" t="t" l="l"/>
            <a:pathLst>
              <a:path h="365945" w="365945">
                <a:moveTo>
                  <a:pt x="0" y="0"/>
                </a:moveTo>
                <a:lnTo>
                  <a:pt x="365945" y="0"/>
                </a:lnTo>
                <a:lnTo>
                  <a:pt x="365945" y="365945"/>
                </a:lnTo>
                <a:lnTo>
                  <a:pt x="0" y="365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34327" y="3623625"/>
            <a:ext cx="14908412" cy="5268730"/>
          </a:xfrm>
          <a:custGeom>
            <a:avLst/>
            <a:gdLst/>
            <a:ahLst/>
            <a:cxnLst/>
            <a:rect r="r" b="b" t="t" l="l"/>
            <a:pathLst>
              <a:path h="5268730" w="14908412">
                <a:moveTo>
                  <a:pt x="0" y="0"/>
                </a:moveTo>
                <a:lnTo>
                  <a:pt x="14908412" y="0"/>
                </a:lnTo>
                <a:lnTo>
                  <a:pt x="14908412" y="5268730"/>
                </a:lnTo>
                <a:lnTo>
                  <a:pt x="0" y="52687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05" r="0" b="-1107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18600"/>
            <a:ext cx="14277591" cy="2705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960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THE PROBLEM WITH TRADITIONAL SYSTEMS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269865" cy="233065"/>
          </a:xfrm>
          <a:custGeom>
            <a:avLst/>
            <a:gdLst/>
            <a:ahLst/>
            <a:cxnLst/>
            <a:rect r="r" b="b" t="t" l="l"/>
            <a:pathLst>
              <a:path h="233065" w="269865">
                <a:moveTo>
                  <a:pt x="0" y="0"/>
                </a:moveTo>
                <a:lnTo>
                  <a:pt x="269865" y="0"/>
                </a:lnTo>
                <a:lnTo>
                  <a:pt x="269865" y="233065"/>
                </a:lnTo>
                <a:lnTo>
                  <a:pt x="0" y="2330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93355" y="8892355"/>
            <a:ext cx="365945" cy="365945"/>
          </a:xfrm>
          <a:custGeom>
            <a:avLst/>
            <a:gdLst/>
            <a:ahLst/>
            <a:cxnLst/>
            <a:rect r="r" b="b" t="t" l="l"/>
            <a:pathLst>
              <a:path h="365945" w="365945">
                <a:moveTo>
                  <a:pt x="0" y="0"/>
                </a:moveTo>
                <a:lnTo>
                  <a:pt x="365945" y="0"/>
                </a:lnTo>
                <a:lnTo>
                  <a:pt x="365945" y="365945"/>
                </a:lnTo>
                <a:lnTo>
                  <a:pt x="0" y="365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42821" y="9091328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70" y="0"/>
                </a:lnTo>
                <a:lnTo>
                  <a:pt x="215070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7044231" y="45858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69" y="0"/>
                </a:lnTo>
                <a:lnTo>
                  <a:pt x="215069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52280" y="2825191"/>
            <a:ext cx="1028332" cy="1028332"/>
          </a:xfrm>
          <a:custGeom>
            <a:avLst/>
            <a:gdLst/>
            <a:ahLst/>
            <a:cxnLst/>
            <a:rect r="r" b="b" t="t" l="l"/>
            <a:pathLst>
              <a:path h="1028332" w="1028332">
                <a:moveTo>
                  <a:pt x="0" y="0"/>
                </a:moveTo>
                <a:lnTo>
                  <a:pt x="1028332" y="0"/>
                </a:lnTo>
                <a:lnTo>
                  <a:pt x="1028332" y="1028332"/>
                </a:lnTo>
                <a:lnTo>
                  <a:pt x="0" y="10283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3992" y="4121192"/>
            <a:ext cx="5676620" cy="3479219"/>
          </a:xfrm>
          <a:custGeom>
            <a:avLst/>
            <a:gdLst/>
            <a:ahLst/>
            <a:cxnLst/>
            <a:rect r="r" b="b" t="t" l="l"/>
            <a:pathLst>
              <a:path h="3479219" w="5676620">
                <a:moveTo>
                  <a:pt x="0" y="0"/>
                </a:moveTo>
                <a:lnTo>
                  <a:pt x="5676620" y="0"/>
                </a:lnTo>
                <a:lnTo>
                  <a:pt x="5676620" y="3479219"/>
                </a:lnTo>
                <a:lnTo>
                  <a:pt x="0" y="34792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842821" y="878795"/>
            <a:ext cx="10416479" cy="10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960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USAGE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46839" y="3142264"/>
            <a:ext cx="11338649" cy="4458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Store and manage images, audio, video, and graphics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Organize multimedia using metadata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Support efficient multimedia searching and retrieval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Handle large and complex multimedia data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Enable content-based search (image, video, audio)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Used in media, entertainment, and advertising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Applied in education and e-learning systems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Support modern applications beyond traditional RDBMS</a:t>
            </a:r>
          </a:p>
          <a:p>
            <a:pPr algn="l">
              <a:lnSpc>
                <a:spcPts val="39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269865" cy="233065"/>
          </a:xfrm>
          <a:custGeom>
            <a:avLst/>
            <a:gdLst/>
            <a:ahLst/>
            <a:cxnLst/>
            <a:rect r="r" b="b" t="t" l="l"/>
            <a:pathLst>
              <a:path h="233065" w="269865">
                <a:moveTo>
                  <a:pt x="0" y="0"/>
                </a:moveTo>
                <a:lnTo>
                  <a:pt x="269865" y="0"/>
                </a:lnTo>
                <a:lnTo>
                  <a:pt x="269865" y="233065"/>
                </a:lnTo>
                <a:lnTo>
                  <a:pt x="0" y="2330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7044231" y="10287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69" y="0"/>
                </a:lnTo>
                <a:lnTo>
                  <a:pt x="215069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49675" y="2330018"/>
            <a:ext cx="10188650" cy="6928282"/>
          </a:xfrm>
          <a:custGeom>
            <a:avLst/>
            <a:gdLst/>
            <a:ahLst/>
            <a:cxnLst/>
            <a:rect r="r" b="b" t="t" l="l"/>
            <a:pathLst>
              <a:path h="6928282" w="10188650">
                <a:moveTo>
                  <a:pt x="0" y="0"/>
                </a:moveTo>
                <a:lnTo>
                  <a:pt x="10188650" y="0"/>
                </a:lnTo>
                <a:lnTo>
                  <a:pt x="10188650" y="6928282"/>
                </a:lnTo>
                <a:lnTo>
                  <a:pt x="0" y="69282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70900" y="903178"/>
            <a:ext cx="13014919" cy="105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0"/>
              </a:lnSpc>
            </a:pPr>
            <a:r>
              <a:rPr lang="en-US" sz="9972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IMAGE DATA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27366" y="5050838"/>
            <a:ext cx="11301259" cy="4647643"/>
          </a:xfrm>
          <a:custGeom>
            <a:avLst/>
            <a:gdLst/>
            <a:ahLst/>
            <a:cxnLst/>
            <a:rect r="r" b="b" t="t" l="l"/>
            <a:pathLst>
              <a:path h="4647643" w="11301259">
                <a:moveTo>
                  <a:pt x="0" y="0"/>
                </a:moveTo>
                <a:lnTo>
                  <a:pt x="11301259" y="0"/>
                </a:lnTo>
                <a:lnTo>
                  <a:pt x="11301259" y="4647642"/>
                </a:lnTo>
                <a:lnTo>
                  <a:pt x="0" y="46476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94152"/>
            <a:ext cx="10416479" cy="10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960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JPF FORMAT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8985" y="2397393"/>
            <a:ext cx="15950031" cy="101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Each pixel is represented by 3 bytes  24-bits, supporting 256 × 256 × 256 possible combined colors (or 16,777,216 different colors)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70980" y="3991047"/>
            <a:ext cx="15346040" cy="507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640 × 480 24-bit colour image requires 921.6 KB of storage (without compression)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269865" cy="233065"/>
          </a:xfrm>
          <a:custGeom>
            <a:avLst/>
            <a:gdLst/>
            <a:ahLst/>
            <a:cxnLst/>
            <a:rect r="r" b="b" t="t" l="l"/>
            <a:pathLst>
              <a:path h="233065" w="269865">
                <a:moveTo>
                  <a:pt x="0" y="0"/>
                </a:moveTo>
                <a:lnTo>
                  <a:pt x="269865" y="0"/>
                </a:lnTo>
                <a:lnTo>
                  <a:pt x="269865" y="233065"/>
                </a:lnTo>
                <a:lnTo>
                  <a:pt x="0" y="2330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93355" y="8892355"/>
            <a:ext cx="365945" cy="365945"/>
          </a:xfrm>
          <a:custGeom>
            <a:avLst/>
            <a:gdLst/>
            <a:ahLst/>
            <a:cxnLst/>
            <a:rect r="r" b="b" t="t" l="l"/>
            <a:pathLst>
              <a:path h="365945" w="365945">
                <a:moveTo>
                  <a:pt x="0" y="0"/>
                </a:moveTo>
                <a:lnTo>
                  <a:pt x="365945" y="0"/>
                </a:lnTo>
                <a:lnTo>
                  <a:pt x="365945" y="365945"/>
                </a:lnTo>
                <a:lnTo>
                  <a:pt x="0" y="365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42821" y="9091328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70" y="0"/>
                </a:lnTo>
                <a:lnTo>
                  <a:pt x="215070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7044231" y="45858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69" y="0"/>
                </a:lnTo>
                <a:lnTo>
                  <a:pt x="215069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963612" y="645604"/>
            <a:ext cx="1028332" cy="1028332"/>
          </a:xfrm>
          <a:custGeom>
            <a:avLst/>
            <a:gdLst/>
            <a:ahLst/>
            <a:cxnLst/>
            <a:rect r="r" b="b" t="t" l="l"/>
            <a:pathLst>
              <a:path h="1028332" w="1028332">
                <a:moveTo>
                  <a:pt x="0" y="0"/>
                </a:moveTo>
                <a:lnTo>
                  <a:pt x="1028332" y="0"/>
                </a:lnTo>
                <a:lnTo>
                  <a:pt x="1028332" y="1028332"/>
                </a:lnTo>
                <a:lnTo>
                  <a:pt x="0" y="10283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98325" y="4283403"/>
            <a:ext cx="12891350" cy="279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4"/>
              </a:lnSpc>
            </a:pPr>
            <a:r>
              <a:rPr lang="en-US" sz="341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Compression </a:t>
            </a:r>
          </a:p>
          <a:p>
            <a:pPr algn="l" marL="736394" indent="-368197" lvl="1">
              <a:lnSpc>
                <a:spcPts val="4434"/>
              </a:lnSpc>
              <a:buFont typeface="Arial"/>
              <a:buChar char="•"/>
            </a:pPr>
            <a:r>
              <a:rPr lang="en-US" sz="341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30 fram</a:t>
            </a:r>
            <a:r>
              <a:rPr lang="en-US" sz="341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es/sec </a:t>
            </a:r>
          </a:p>
          <a:p>
            <a:pPr algn="l" marL="736394" indent="-368197" lvl="1">
              <a:lnSpc>
                <a:spcPts val="4434"/>
              </a:lnSpc>
              <a:buFont typeface="Arial"/>
              <a:buChar char="•"/>
            </a:pPr>
            <a:r>
              <a:rPr lang="en-US" sz="341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Resolution: 640 × 480</a:t>
            </a:r>
            <a:r>
              <a:rPr lang="en-US" sz="341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l" marL="736394" indent="-368197" lvl="1">
              <a:lnSpc>
                <a:spcPts val="4434"/>
              </a:lnSpc>
              <a:buFont typeface="Arial"/>
              <a:buChar char="•"/>
            </a:pPr>
            <a:r>
              <a:rPr lang="en-US" sz="341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24-bit RGB  Storage: ~26 Mbytes/sec (uncompressed)</a:t>
            </a:r>
          </a:p>
          <a:p>
            <a:pPr algn="l" marL="736394" indent="-368197" lvl="1">
              <a:lnSpc>
                <a:spcPts val="4434"/>
              </a:lnSpc>
              <a:buFont typeface="Arial"/>
              <a:buChar char="•"/>
            </a:pPr>
            <a:r>
              <a:rPr lang="en-US" sz="341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Most likely in compressed forms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716034" y="8241187"/>
            <a:ext cx="11301259" cy="2034227"/>
          </a:xfrm>
          <a:custGeom>
            <a:avLst/>
            <a:gdLst/>
            <a:ahLst/>
            <a:cxnLst/>
            <a:rect r="r" b="b" t="t" l="l"/>
            <a:pathLst>
              <a:path h="2034227" w="11301259">
                <a:moveTo>
                  <a:pt x="0" y="0"/>
                </a:moveTo>
                <a:lnTo>
                  <a:pt x="11301259" y="0"/>
                </a:lnTo>
                <a:lnTo>
                  <a:pt x="11301259" y="2034226"/>
                </a:lnTo>
                <a:lnTo>
                  <a:pt x="0" y="20342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842821" y="878795"/>
            <a:ext cx="10416479" cy="10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960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VIDEO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98325" y="1859845"/>
            <a:ext cx="12891350" cy="2233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4"/>
              </a:lnSpc>
            </a:pPr>
            <a:r>
              <a:rPr lang="en-US" sz="341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Video is a s</a:t>
            </a:r>
            <a:r>
              <a:rPr lang="en-US" sz="341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equence of pictures …  </a:t>
            </a:r>
          </a:p>
          <a:p>
            <a:pPr algn="l" marL="736394" indent="-368197" lvl="1">
              <a:lnSpc>
                <a:spcPts val="4434"/>
              </a:lnSpc>
              <a:buFont typeface="Arial"/>
              <a:buChar char="•"/>
            </a:pPr>
            <a:r>
              <a:rPr lang="en-US" sz="341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Analog </a:t>
            </a:r>
          </a:p>
          <a:p>
            <a:pPr algn="l" marL="736394" indent="-368197" lvl="1">
              <a:lnSpc>
                <a:spcPts val="4434"/>
              </a:lnSpc>
              <a:buFont typeface="Arial"/>
              <a:buChar char="•"/>
            </a:pPr>
            <a:r>
              <a:rPr lang="en-US" sz="341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Some with rich information such as sound, text, annotations and metadata…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3355" y="8892355"/>
            <a:ext cx="365945" cy="365945"/>
          </a:xfrm>
          <a:custGeom>
            <a:avLst/>
            <a:gdLst/>
            <a:ahLst/>
            <a:cxnLst/>
            <a:rect r="r" b="b" t="t" l="l"/>
            <a:pathLst>
              <a:path h="365945" w="365945">
                <a:moveTo>
                  <a:pt x="0" y="0"/>
                </a:moveTo>
                <a:lnTo>
                  <a:pt x="365945" y="0"/>
                </a:lnTo>
                <a:lnTo>
                  <a:pt x="365945" y="365945"/>
                </a:lnTo>
                <a:lnTo>
                  <a:pt x="0" y="3659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42821" y="9091328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70" y="0"/>
                </a:lnTo>
                <a:lnTo>
                  <a:pt x="215070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7044231" y="45858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69" y="0"/>
                </a:lnTo>
                <a:lnTo>
                  <a:pt x="215069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26835" y="2891990"/>
            <a:ext cx="1028332" cy="1028332"/>
          </a:xfrm>
          <a:custGeom>
            <a:avLst/>
            <a:gdLst/>
            <a:ahLst/>
            <a:cxnLst/>
            <a:rect r="r" b="b" t="t" l="l"/>
            <a:pathLst>
              <a:path h="1028332" w="1028332">
                <a:moveTo>
                  <a:pt x="0" y="0"/>
                </a:moveTo>
                <a:lnTo>
                  <a:pt x="1028332" y="0"/>
                </a:lnTo>
                <a:lnTo>
                  <a:pt x="1028332" y="1028332"/>
                </a:lnTo>
                <a:lnTo>
                  <a:pt x="0" y="10283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9171" y="323875"/>
            <a:ext cx="17519452" cy="18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960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MY PROJECT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54992" y="3247674"/>
            <a:ext cx="11338649" cy="297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This project is </a:t>
            </a: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Multimedia Database Management System (Multimedia DBMS) designed to store, manage, and search multimedia data such as images and related metadata. The system combines a Python-based environment, specialized libraries for multimedia processing, and a structured database for efficient data storage and retrieval.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3355" y="8892355"/>
            <a:ext cx="365945" cy="365945"/>
          </a:xfrm>
          <a:custGeom>
            <a:avLst/>
            <a:gdLst/>
            <a:ahLst/>
            <a:cxnLst/>
            <a:rect r="r" b="b" t="t" l="l"/>
            <a:pathLst>
              <a:path h="365945" w="365945">
                <a:moveTo>
                  <a:pt x="0" y="0"/>
                </a:moveTo>
                <a:lnTo>
                  <a:pt x="365945" y="0"/>
                </a:lnTo>
                <a:lnTo>
                  <a:pt x="365945" y="365945"/>
                </a:lnTo>
                <a:lnTo>
                  <a:pt x="0" y="3659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42821" y="9091328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70" y="0"/>
                </a:lnTo>
                <a:lnTo>
                  <a:pt x="215070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7044231" y="45858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69" y="0"/>
                </a:lnTo>
                <a:lnTo>
                  <a:pt x="215069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91252" y="232462"/>
            <a:ext cx="1028332" cy="1028332"/>
          </a:xfrm>
          <a:custGeom>
            <a:avLst/>
            <a:gdLst/>
            <a:ahLst/>
            <a:cxnLst/>
            <a:rect r="r" b="b" t="t" l="l"/>
            <a:pathLst>
              <a:path h="1028332" w="1028332">
                <a:moveTo>
                  <a:pt x="0" y="0"/>
                </a:moveTo>
                <a:lnTo>
                  <a:pt x="1028332" y="0"/>
                </a:lnTo>
                <a:lnTo>
                  <a:pt x="1028332" y="1028332"/>
                </a:lnTo>
                <a:lnTo>
                  <a:pt x="0" y="10283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41001" y="680137"/>
            <a:ext cx="17519452" cy="18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960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DEVELOPMENT ENVIRONMENT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26879" y="3499615"/>
            <a:ext cx="12234243" cy="5906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9"/>
              </a:lnSpc>
            </a:pPr>
            <a:r>
              <a:rPr lang="en-US" sz="399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•Software Requirements:</a:t>
            </a:r>
          </a:p>
          <a:p>
            <a:pPr algn="l">
              <a:lnSpc>
                <a:spcPts val="5189"/>
              </a:lnSpc>
            </a:pPr>
            <a:r>
              <a:rPr lang="en-US" sz="399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99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 Python 3.x</a:t>
            </a:r>
          </a:p>
          <a:p>
            <a:pPr algn="l">
              <a:lnSpc>
                <a:spcPts val="5189"/>
              </a:lnSpc>
            </a:pPr>
            <a:r>
              <a:rPr lang="en-US" sz="399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99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 PostgreSQL with pgvector extension</a:t>
            </a:r>
          </a:p>
          <a:p>
            <a:pPr algn="l">
              <a:lnSpc>
                <a:spcPts val="5189"/>
              </a:lnSpc>
            </a:pPr>
            <a:r>
              <a:rPr lang="en-US" sz="399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99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 Flask, SQLAlchemy, OpenCV, Librosa, PyTorch</a:t>
            </a:r>
          </a:p>
          <a:p>
            <a:pPr algn="l">
              <a:lnSpc>
                <a:spcPts val="5189"/>
              </a:lnSpc>
            </a:pPr>
            <a:r>
              <a:rPr lang="en-US" sz="399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99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Hardware Requirements:</a:t>
            </a:r>
          </a:p>
          <a:p>
            <a:pPr algn="l">
              <a:lnSpc>
                <a:spcPts val="5189"/>
              </a:lnSpc>
            </a:pPr>
            <a:r>
              <a:rPr lang="en-US" sz="399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99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 Adequate storage for multimedia files</a:t>
            </a:r>
          </a:p>
          <a:p>
            <a:pPr algn="l">
              <a:lnSpc>
                <a:spcPts val="5189"/>
              </a:lnSpc>
            </a:pPr>
            <a:r>
              <a:rPr lang="en-US" sz="399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99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 Optional GPU for deep feature extraction acceleration</a:t>
            </a:r>
          </a:p>
          <a:p>
            <a:pPr algn="l">
              <a:lnSpc>
                <a:spcPts val="518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3355" y="8892355"/>
            <a:ext cx="365945" cy="365945"/>
          </a:xfrm>
          <a:custGeom>
            <a:avLst/>
            <a:gdLst/>
            <a:ahLst/>
            <a:cxnLst/>
            <a:rect r="r" b="b" t="t" l="l"/>
            <a:pathLst>
              <a:path h="365945" w="365945">
                <a:moveTo>
                  <a:pt x="0" y="0"/>
                </a:moveTo>
                <a:lnTo>
                  <a:pt x="365945" y="0"/>
                </a:lnTo>
                <a:lnTo>
                  <a:pt x="365945" y="365945"/>
                </a:lnTo>
                <a:lnTo>
                  <a:pt x="0" y="3659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42821" y="9091328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70" y="0"/>
                </a:lnTo>
                <a:lnTo>
                  <a:pt x="215070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7044231" y="45858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69" y="0"/>
                </a:lnTo>
                <a:lnTo>
                  <a:pt x="215069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26835" y="2891990"/>
            <a:ext cx="1028332" cy="1028332"/>
          </a:xfrm>
          <a:custGeom>
            <a:avLst/>
            <a:gdLst/>
            <a:ahLst/>
            <a:cxnLst/>
            <a:rect r="r" b="b" t="t" l="l"/>
            <a:pathLst>
              <a:path h="1028332" w="1028332">
                <a:moveTo>
                  <a:pt x="0" y="0"/>
                </a:moveTo>
                <a:lnTo>
                  <a:pt x="1028332" y="0"/>
                </a:lnTo>
                <a:lnTo>
                  <a:pt x="1028332" y="1028332"/>
                </a:lnTo>
                <a:lnTo>
                  <a:pt x="0" y="10283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9171" y="323875"/>
            <a:ext cx="17519452" cy="10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960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WHAT IS POSTGRESQL?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54992" y="3247674"/>
            <a:ext cx="11338649" cy="4458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•PostgreSQL is </a:t>
            </a: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 advanced open-source relational database management system.</a:t>
            </a: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•It supports extensibility, custom data types, and powerful indexing mechanisms.</a:t>
            </a: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•It is widely used for scalable, secure, and high-performance applications.</a:t>
            </a: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•PostgreSQL supports extensions such as pgvector for vector similarity search.</a:t>
            </a:r>
          </a:p>
          <a:p>
            <a:pPr algn="l">
              <a:lnSpc>
                <a:spcPts val="39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3355" y="8892355"/>
            <a:ext cx="365945" cy="365945"/>
          </a:xfrm>
          <a:custGeom>
            <a:avLst/>
            <a:gdLst/>
            <a:ahLst/>
            <a:cxnLst/>
            <a:rect r="r" b="b" t="t" l="l"/>
            <a:pathLst>
              <a:path h="365945" w="365945">
                <a:moveTo>
                  <a:pt x="0" y="0"/>
                </a:moveTo>
                <a:lnTo>
                  <a:pt x="365945" y="0"/>
                </a:lnTo>
                <a:lnTo>
                  <a:pt x="365945" y="365945"/>
                </a:lnTo>
                <a:lnTo>
                  <a:pt x="0" y="3659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42821" y="9091328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70" y="0"/>
                </a:lnTo>
                <a:lnTo>
                  <a:pt x="215070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7044231" y="45858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69" y="0"/>
                </a:lnTo>
                <a:lnTo>
                  <a:pt x="215069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26835" y="2891990"/>
            <a:ext cx="1028332" cy="1028332"/>
          </a:xfrm>
          <a:custGeom>
            <a:avLst/>
            <a:gdLst/>
            <a:ahLst/>
            <a:cxnLst/>
            <a:rect r="r" b="b" t="t" l="l"/>
            <a:pathLst>
              <a:path h="1028332" w="1028332">
                <a:moveTo>
                  <a:pt x="0" y="0"/>
                </a:moveTo>
                <a:lnTo>
                  <a:pt x="1028332" y="0"/>
                </a:lnTo>
                <a:lnTo>
                  <a:pt x="1028332" y="1028332"/>
                </a:lnTo>
                <a:lnTo>
                  <a:pt x="0" y="10283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9171" y="323875"/>
            <a:ext cx="17519452" cy="18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960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PGVECTOR EXTENSION IN POSTGRESQL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54992" y="3247674"/>
            <a:ext cx="11338649" cy="4953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pgvector is a PostgreSQL extension th</a:t>
            </a: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at allows storing and searching vector embeddings.</a:t>
            </a: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It is used to store feature vectors extracted from multimedia files.</a:t>
            </a: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Supports similarity search using:</a:t>
            </a: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 Euclidean distance</a:t>
            </a: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 Cosine similarity</a:t>
            </a: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 Manhattan distance</a:t>
            </a: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•Enables efficient K-Nearest Neighbor (KNN) queries.</a:t>
            </a:r>
          </a:p>
          <a:p>
            <a:pPr algn="l">
              <a:lnSpc>
                <a:spcPts val="39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3355" y="8892355"/>
            <a:ext cx="365945" cy="365945"/>
          </a:xfrm>
          <a:custGeom>
            <a:avLst/>
            <a:gdLst/>
            <a:ahLst/>
            <a:cxnLst/>
            <a:rect r="r" b="b" t="t" l="l"/>
            <a:pathLst>
              <a:path h="365945" w="365945">
                <a:moveTo>
                  <a:pt x="0" y="0"/>
                </a:moveTo>
                <a:lnTo>
                  <a:pt x="365945" y="0"/>
                </a:lnTo>
                <a:lnTo>
                  <a:pt x="365945" y="365945"/>
                </a:lnTo>
                <a:lnTo>
                  <a:pt x="0" y="3659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42821" y="9091328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70" y="0"/>
                </a:lnTo>
                <a:lnTo>
                  <a:pt x="215070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7044231" y="45858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69" y="0"/>
                </a:lnTo>
                <a:lnTo>
                  <a:pt x="215069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26835" y="2891990"/>
            <a:ext cx="1028332" cy="1028332"/>
          </a:xfrm>
          <a:custGeom>
            <a:avLst/>
            <a:gdLst/>
            <a:ahLst/>
            <a:cxnLst/>
            <a:rect r="r" b="b" t="t" l="l"/>
            <a:pathLst>
              <a:path h="1028332" w="1028332">
                <a:moveTo>
                  <a:pt x="0" y="0"/>
                </a:moveTo>
                <a:lnTo>
                  <a:pt x="1028332" y="0"/>
                </a:lnTo>
                <a:lnTo>
                  <a:pt x="1028332" y="1028332"/>
                </a:lnTo>
                <a:lnTo>
                  <a:pt x="0" y="10283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9171" y="323875"/>
            <a:ext cx="17519452" cy="18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960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54992" y="3247674"/>
            <a:ext cx="11338649" cy="3962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system consists of the</a:t>
            </a: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following layers:</a:t>
            </a: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1. Frontend (User Interface)</a:t>
            </a: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2. Backend API (Flask Server)</a:t>
            </a: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3. PostgreSQL Database with pgvector</a:t>
            </a: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4. Feature Extraction Modules</a:t>
            </a: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Media is uploaded, processed into vectors, stored, and later searched using similarity queries.</a:t>
            </a:r>
          </a:p>
          <a:p>
            <a:pPr algn="l">
              <a:lnSpc>
                <a:spcPts val="390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3355" y="8892355"/>
            <a:ext cx="365945" cy="365945"/>
          </a:xfrm>
          <a:custGeom>
            <a:avLst/>
            <a:gdLst/>
            <a:ahLst/>
            <a:cxnLst/>
            <a:rect r="r" b="b" t="t" l="l"/>
            <a:pathLst>
              <a:path h="365945" w="365945">
                <a:moveTo>
                  <a:pt x="0" y="0"/>
                </a:moveTo>
                <a:lnTo>
                  <a:pt x="365945" y="0"/>
                </a:lnTo>
                <a:lnTo>
                  <a:pt x="365945" y="365945"/>
                </a:lnTo>
                <a:lnTo>
                  <a:pt x="0" y="3659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42821" y="9091328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70" y="0"/>
                </a:lnTo>
                <a:lnTo>
                  <a:pt x="215070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7044231" y="45858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69" y="0"/>
                </a:lnTo>
                <a:lnTo>
                  <a:pt x="215069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26835" y="2891990"/>
            <a:ext cx="1028332" cy="1028332"/>
          </a:xfrm>
          <a:custGeom>
            <a:avLst/>
            <a:gdLst/>
            <a:ahLst/>
            <a:cxnLst/>
            <a:rect r="r" b="b" t="t" l="l"/>
            <a:pathLst>
              <a:path h="1028332" w="1028332">
                <a:moveTo>
                  <a:pt x="0" y="0"/>
                </a:moveTo>
                <a:lnTo>
                  <a:pt x="1028332" y="0"/>
                </a:lnTo>
                <a:lnTo>
                  <a:pt x="1028332" y="1028332"/>
                </a:lnTo>
                <a:lnTo>
                  <a:pt x="0" y="10283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9171" y="323875"/>
            <a:ext cx="17519452" cy="18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960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FEATURE EXTRACTION PROCESS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54992" y="3247674"/>
            <a:ext cx="11338649" cy="3962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Each multimedia</a:t>
            </a: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file is processed to extract numerical features:</a:t>
            </a: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 Images: color histogram, texture (LBP), deep CNN features</a:t>
            </a: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 Audio: MFCC, spectral features, waveform statistics</a:t>
            </a: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 Video: keyframes, motion features, scene statistics</a:t>
            </a: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These features are converted into fixed-length vector embeddings.</a:t>
            </a:r>
          </a:p>
          <a:p>
            <a:pPr algn="l">
              <a:lnSpc>
                <a:spcPts val="390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3355" y="8892355"/>
            <a:ext cx="365945" cy="365945"/>
          </a:xfrm>
          <a:custGeom>
            <a:avLst/>
            <a:gdLst/>
            <a:ahLst/>
            <a:cxnLst/>
            <a:rect r="r" b="b" t="t" l="l"/>
            <a:pathLst>
              <a:path h="365945" w="365945">
                <a:moveTo>
                  <a:pt x="0" y="0"/>
                </a:moveTo>
                <a:lnTo>
                  <a:pt x="365945" y="0"/>
                </a:lnTo>
                <a:lnTo>
                  <a:pt x="365945" y="365945"/>
                </a:lnTo>
                <a:lnTo>
                  <a:pt x="0" y="3659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42821" y="9091328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70" y="0"/>
                </a:lnTo>
                <a:lnTo>
                  <a:pt x="215070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7044231" y="45858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69" y="0"/>
                </a:lnTo>
                <a:lnTo>
                  <a:pt x="215069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91252" y="232462"/>
            <a:ext cx="1028332" cy="1028332"/>
          </a:xfrm>
          <a:custGeom>
            <a:avLst/>
            <a:gdLst/>
            <a:ahLst/>
            <a:cxnLst/>
            <a:rect r="r" b="b" t="t" l="l"/>
            <a:pathLst>
              <a:path h="1028332" w="1028332">
                <a:moveTo>
                  <a:pt x="0" y="0"/>
                </a:moveTo>
                <a:lnTo>
                  <a:pt x="1028332" y="0"/>
                </a:lnTo>
                <a:lnTo>
                  <a:pt x="1028332" y="1028332"/>
                </a:lnTo>
                <a:lnTo>
                  <a:pt x="0" y="10283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4143843"/>
            <a:ext cx="9087789" cy="1999314"/>
          </a:xfrm>
          <a:custGeom>
            <a:avLst/>
            <a:gdLst/>
            <a:ahLst/>
            <a:cxnLst/>
            <a:rect r="r" b="b" t="t" l="l"/>
            <a:pathLst>
              <a:path h="1999314" w="9087789">
                <a:moveTo>
                  <a:pt x="0" y="0"/>
                </a:moveTo>
                <a:lnTo>
                  <a:pt x="9087789" y="0"/>
                </a:lnTo>
                <a:lnTo>
                  <a:pt x="9087789" y="1999314"/>
                </a:lnTo>
                <a:lnTo>
                  <a:pt x="0" y="19993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41001" y="680137"/>
            <a:ext cx="17519452" cy="10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960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FUTURE WORK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2914" y="2131823"/>
            <a:ext cx="9517745" cy="2453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At the curre</a:t>
            </a:r>
            <a:r>
              <a:rPr lang="en-US" sz="2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 stage, the system only supports image upload and storage.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Images are stored on disk and basic metadata is saved in the database.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No image analysis or similarity search is implemented y</a:t>
            </a:r>
            <a:r>
              <a:rPr lang="en-US" sz="2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et.</a:t>
            </a:r>
          </a:p>
          <a:p>
            <a:pPr algn="l">
              <a:lnSpc>
                <a:spcPts val="324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967186" y="6197594"/>
            <a:ext cx="9517745" cy="368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TensorFlow will be used to extract numerical feature vectors from images.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database will be populated with these feature vectors after image upload or during batch processing.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K-Nearest Neighbors (KNN) will be applied to compare image feature vectors.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system will support Query By Example, using a query image.</a:t>
            </a:r>
          </a:p>
          <a:p>
            <a:pPr algn="l">
              <a:lnSpc>
                <a:spcPts val="324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1755" y="7695655"/>
            <a:ext cx="18631511" cy="4192090"/>
          </a:xfrm>
          <a:custGeom>
            <a:avLst/>
            <a:gdLst/>
            <a:ahLst/>
            <a:cxnLst/>
            <a:rect r="r" b="b" t="t" l="l"/>
            <a:pathLst>
              <a:path h="4192090" w="18631511">
                <a:moveTo>
                  <a:pt x="0" y="0"/>
                </a:moveTo>
                <a:lnTo>
                  <a:pt x="18631510" y="0"/>
                </a:lnTo>
                <a:lnTo>
                  <a:pt x="18631510" y="4192090"/>
                </a:lnTo>
                <a:lnTo>
                  <a:pt x="0" y="41920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95960" y="8892355"/>
            <a:ext cx="365945" cy="365945"/>
          </a:xfrm>
          <a:custGeom>
            <a:avLst/>
            <a:gdLst/>
            <a:ahLst/>
            <a:cxnLst/>
            <a:rect r="r" b="b" t="t" l="l"/>
            <a:pathLst>
              <a:path h="365945" w="365945">
                <a:moveTo>
                  <a:pt x="0" y="0"/>
                </a:moveTo>
                <a:lnTo>
                  <a:pt x="365945" y="0"/>
                </a:lnTo>
                <a:lnTo>
                  <a:pt x="365945" y="365945"/>
                </a:lnTo>
                <a:lnTo>
                  <a:pt x="0" y="365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833139"/>
            <a:ext cx="332473" cy="332473"/>
          </a:xfrm>
          <a:custGeom>
            <a:avLst/>
            <a:gdLst/>
            <a:ahLst/>
            <a:cxnLst/>
            <a:rect r="r" b="b" t="t" l="l"/>
            <a:pathLst>
              <a:path h="332473" w="332473">
                <a:moveTo>
                  <a:pt x="0" y="0"/>
                </a:moveTo>
                <a:lnTo>
                  <a:pt x="332473" y="0"/>
                </a:lnTo>
                <a:lnTo>
                  <a:pt x="332473" y="332473"/>
                </a:lnTo>
                <a:lnTo>
                  <a:pt x="0" y="3324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926827" y="3833139"/>
            <a:ext cx="332473" cy="332473"/>
          </a:xfrm>
          <a:custGeom>
            <a:avLst/>
            <a:gdLst/>
            <a:ahLst/>
            <a:cxnLst/>
            <a:rect r="r" b="b" t="t" l="l"/>
            <a:pathLst>
              <a:path h="332473" w="332473">
                <a:moveTo>
                  <a:pt x="332473" y="0"/>
                </a:moveTo>
                <a:lnTo>
                  <a:pt x="0" y="0"/>
                </a:lnTo>
                <a:lnTo>
                  <a:pt x="0" y="332473"/>
                </a:lnTo>
                <a:lnTo>
                  <a:pt x="332473" y="332473"/>
                </a:lnTo>
                <a:lnTo>
                  <a:pt x="33247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65578" y="3492022"/>
            <a:ext cx="13756844" cy="1463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44"/>
              </a:lnSpc>
            </a:pPr>
            <a:r>
              <a:rPr lang="en-US" sz="14757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THANK YOU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1028700" y="5148262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980660" y="3056851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DAHA14bZh14</dc:identifier>
  <dcterms:modified xsi:type="dcterms:W3CDTF">2011-08-01T06:04:30Z</dcterms:modified>
  <cp:revision>1</cp:revision>
  <dc:title>Multimedia Database-Kleart Adri-Presentation</dc:title>
</cp:coreProperties>
</file>